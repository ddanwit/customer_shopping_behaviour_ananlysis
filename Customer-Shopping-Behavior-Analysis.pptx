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aleway" panose="020B0604020202020204" charset="-52"/>
      <p:regular r:id="rId17"/>
    </p:embeddedFont>
    <p:embeddedFont>
      <p:font typeface="Roboto" panose="020B0604020202020204" charset="0"/>
      <p:regular r:id="rId18"/>
    </p:embeddedFont>
    <p:embeddedFont>
      <p:font typeface="Roboto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41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insights and actionable recommendations from 3,900 purchase records — prepared for the data analytics team.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9430"/>
            <a:ext cx="6915870" cy="39190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8737" y="786606"/>
            <a:ext cx="3527734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561372" y="2116138"/>
            <a:ext cx="297509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3,900 purchases analyzed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561372" y="2548930"/>
            <a:ext cx="297509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Spanning 4 product categories and 18 behavioral and demographic features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61372" y="3465612"/>
            <a:ext cx="297509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locations covered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61372" y="3898404"/>
            <a:ext cx="297509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aged 18–70, offering broad demographic representation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61372" y="4815086"/>
            <a:ext cx="297509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Rich feature set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61372" y="5247878"/>
            <a:ext cx="297509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purchase details, subscription status, discount usage, and loyalty signals</a:t>
            </a:r>
            <a:endParaRPr lang="en-US" sz="13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5D917E5-D25D-4CD4-81BA-6E63ECB0E978}"/>
              </a:ext>
            </a:extLst>
          </p:cNvPr>
          <p:cNvSpPr/>
          <p:nvPr/>
        </p:nvSpPr>
        <p:spPr>
          <a:xfrm>
            <a:off x="10870889" y="6267450"/>
            <a:ext cx="1318661" cy="59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9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Concentration by Gender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66205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842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significant spending gap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326878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 — 68% of total revenue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while female customers account for $75,191 (32%). The gap is nearly 2:1.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disparity is not necessarily a demographic reality but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targeted marketing opportunity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Female customer engagement strategies remain underdeveloped relative to their potential share.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826496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5113238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504378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Closing even half the gender revenue gap could unlock ~$40K in incremental revenue.</a:t>
            </a:r>
            <a:endParaRPr lang="en-US" sz="14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F3ACDC6-4974-43AF-BE09-E32CA49B0984}"/>
              </a:ext>
            </a:extLst>
          </p:cNvPr>
          <p:cNvSpPr/>
          <p:nvPr/>
        </p:nvSpPr>
        <p:spPr>
          <a:xfrm>
            <a:off x="10870889" y="6267450"/>
            <a:ext cx="1318661" cy="59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7658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Subscription Paradox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65070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 spend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transaction than non-subscribers — undermining the core assumption of the subscription model.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468166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2474516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391543"/>
                </a:lnTo>
                <a:lnTo>
                  <a:pt x="0" y="13915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266352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Subscribers (27% of base)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07220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$59.49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spend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$62,645 total revenue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3866059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386605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856832" y="40550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Non-Subscribers (73% of base)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4637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$59.87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spend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$170,436 total revenue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547657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status does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drive higher individual spending. The current value proposition needs a fundamental redesign.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307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Segmentation Breakdown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02866"/>
            <a:ext cx="5228995" cy="37638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7575" y="1484114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base is heavily skewed toward loyalty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7575" y="1915815"/>
            <a:ext cx="5228995" cy="12967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1093" y="2103140"/>
            <a:ext cx="477815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 — 3,116 customers (80%)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571093" y="2516088"/>
            <a:ext cx="477815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lifetime value. The backbone of revenue — protect and reward this segment above all.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7575" y="3362523"/>
            <a:ext cx="5228995" cy="12967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71093" y="3549848"/>
            <a:ext cx="477815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Returning — 701 customers (18%)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571093" y="3962797"/>
            <a:ext cx="477815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meaningful growth lever. Nurturing returning buyers into loyal status is the clearest near-term opportunity.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7575" y="4809232"/>
            <a:ext cx="5228995" cy="12967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71093" y="4996557"/>
            <a:ext cx="477815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— 83 customers (2%)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571093" y="5409505"/>
            <a:ext cx="477815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Acquisition is critically underdeveloped. Pipeline replenishment must be prioritized.</a:t>
            </a:r>
            <a:endParaRPr lang="en-US" sz="13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0F598B-CB0A-4448-9D15-DB098DB2DAE3}"/>
              </a:ext>
            </a:extLst>
          </p:cNvPr>
          <p:cNvSpPr/>
          <p:nvPr/>
        </p:nvSpPr>
        <p:spPr>
          <a:xfrm>
            <a:off x="10870889" y="6267450"/>
            <a:ext cx="1318661" cy="59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17873"/>
            <a:ext cx="2009923" cy="20099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6408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Gloves — 3.86★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1475" y="357276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Top-rated product. Strong candidate for feature placement in campaigns.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917873"/>
            <a:ext cx="2009923" cy="20099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63135" y="316408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Sandals — 3.84★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363135" y="357276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satisfaction drives repeat purchases in the footwear category.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917873"/>
            <a:ext cx="2009923" cy="20099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64794" y="316408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Boots — 3.82★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064794" y="357276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Consistently rated product — strong loyalty anchor for returning buyers.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61475" y="44610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Top-Rated Products Drive Loyalty</a:t>
            </a:r>
            <a:endParaRPr lang="en-US" sz="3700" dirty="0"/>
          </a:p>
        </p:txBody>
      </p:sp>
      <p:sp>
        <p:nvSpPr>
          <p:cNvPr id="12" name="Text 7"/>
          <p:cNvSpPr/>
          <p:nvPr/>
        </p:nvSpPr>
        <p:spPr>
          <a:xfrm>
            <a:off x="661475" y="533519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customer ratings correlate directly with repeat purchase behavior. Featuring these products in marketing campaigns is a low-cost, high-signal strategy.</a:t>
            </a:r>
            <a:endParaRPr lang="en-US" sz="14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28153C8-EE84-4F5D-A735-31CC6614430F}"/>
              </a:ext>
            </a:extLst>
          </p:cNvPr>
          <p:cNvSpPr/>
          <p:nvPr/>
        </p:nvSpPr>
        <p:spPr>
          <a:xfrm>
            <a:off x="10870889" y="6267450"/>
            <a:ext cx="1318661" cy="59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032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 Dependency Risk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2306737"/>
            <a:ext cx="3569901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Heavy discounting concentrated in key SKUs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883396"/>
            <a:ext cx="3569901" cy="13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products account for the most aggressive promotional activity: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Critically,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839 customers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spend above average even when discounts are applied — signaling that promotions may be unnecessary for a meaningful portion of buyers.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880" y="1306314"/>
            <a:ext cx="6938590" cy="3931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5497810"/>
            <a:ext cx="3545989" cy="818158"/>
          </a:xfrm>
          <a:prstGeom prst="roundRect">
            <a:avLst>
              <a:gd name="adj" fmla="val 758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5459" y="5651798"/>
            <a:ext cx="323802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5459" y="5951637"/>
            <a:ext cx="323802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discount rate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2754" y="5497810"/>
            <a:ext cx="3546089" cy="818158"/>
          </a:xfrm>
          <a:prstGeom prst="roundRect">
            <a:avLst>
              <a:gd name="adj" fmla="val 758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76737" y="5651798"/>
            <a:ext cx="323812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Sneakers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476737" y="5951637"/>
            <a:ext cx="323812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49.66%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discount rate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84132" y="5497810"/>
            <a:ext cx="3545989" cy="818158"/>
          </a:xfrm>
          <a:prstGeom prst="roundRect">
            <a:avLst>
              <a:gd name="adj" fmla="val 758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15" y="5651798"/>
            <a:ext cx="323802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Coat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38115" y="5951637"/>
            <a:ext cx="323802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49.07%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discount rate</a:t>
            </a:r>
            <a:endParaRPr lang="en-US" sz="11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93180C4-473C-401D-921C-90987E25F433}"/>
              </a:ext>
            </a:extLst>
          </p:cNvPr>
          <p:cNvSpPr/>
          <p:nvPr/>
        </p:nvSpPr>
        <p:spPr>
          <a:xfrm>
            <a:off x="10870889" y="6469956"/>
            <a:ext cx="1318661" cy="388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 Performance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4919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dominates at ~1,800 units and ~$100K revenue. Accessories trail at ~$75K. </a:t>
            </a: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Footwear and Outerwear significantly underperform</a:t>
            </a: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relative to category potential — both represent untapped expansion opportunities.</a:t>
            </a:r>
            <a:endParaRPr lang="en-US" sz="7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A0A6A87-ECDF-4F08-8DCD-80464C2F977F}"/>
              </a:ext>
            </a:extLst>
          </p:cNvPr>
          <p:cNvSpPr/>
          <p:nvPr/>
        </p:nvSpPr>
        <p:spPr>
          <a:xfrm>
            <a:off x="10870889" y="6562724"/>
            <a:ext cx="1318661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91766"/>
            <a:ext cx="5203794" cy="37458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768152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Group Revenue Contribution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2138462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is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remarkably balanced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age groups — but Young Adults lead at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$62,143 (27% of total revenue)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pulling ahead of all other cohorts.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075" y="4937423"/>
            <a:ext cx="3490825" cy="1366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1281" y="4962823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Young Adults — $62,143 (27%)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01281" y="5371505"/>
            <a:ext cx="32256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revenue cohort. High engagement potential warrants a premium strategy.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7735" y="4937423"/>
            <a:ext cx="3490825" cy="13667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02940" y="4962823"/>
            <a:ext cx="32256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Middle-Aged — $59,197 (26%)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602940" y="5666780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 second. Stable and reliable spenders.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9395" y="4937423"/>
            <a:ext cx="3490825" cy="13667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04600" y="4962823"/>
            <a:ext cx="32256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Adults &amp; Seniors — ~24% each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304600" y="5666780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contributors — retention focus recommended.</a:t>
            </a:r>
            <a:endParaRPr lang="en-US" sz="14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21E77DF-F248-48AF-A654-9781391388B6}"/>
              </a:ext>
            </a:extLst>
          </p:cNvPr>
          <p:cNvSpPr/>
          <p:nvPr/>
        </p:nvSpPr>
        <p:spPr>
          <a:xfrm>
            <a:off x="10870889" y="6267450"/>
            <a:ext cx="1318661" cy="59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6879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Recommendations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253927"/>
            <a:ext cx="6296860" cy="11050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9333" y="1662509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419487" y="1426468"/>
            <a:ext cx="5366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Redesign the subscription model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419487" y="1741190"/>
            <a:ext cx="5366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subscribers spend less per transaction. Rebuild the value proposition — exclusive perks, early access, or tier-based incentives to convert spend lift.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83743"/>
            <a:ext cx="6296860" cy="11050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9333" y="2892326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419487" y="2656284"/>
            <a:ext cx="5366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Reinforce the loyal segment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419487" y="2971006"/>
            <a:ext cx="5366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of customers are loyal — protect this base with structured rewards programs before focusing on acquisition.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13559"/>
            <a:ext cx="6296860" cy="11050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9333" y="4122142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419487" y="3886101"/>
            <a:ext cx="5366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high-revenue demographics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419487" y="4200823"/>
            <a:ext cx="5366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campaigns focused on male customers, Young Adults, and top-rated products (Gloves, Sandals, Boots) to maximize ROI.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43376"/>
            <a:ext cx="6296860" cy="132774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9333" y="5463282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1419487" y="5115917"/>
            <a:ext cx="5366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 promotional dependency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419487" y="5430639"/>
            <a:ext cx="536631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Hat, Sneakers, and Coat carry ~50% discount rates. With 839 above-average spenders unaffected by discounts, margin recovery is achievable through targeted rollback.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661</Words>
  <Application>Microsoft Office PowerPoint</Application>
  <PresentationFormat>Широкоэкранный</PresentationFormat>
  <Paragraphs>82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Roboto Bold</vt:lpstr>
      <vt:lpstr>Calibri</vt:lpstr>
      <vt:lpstr>Roboto</vt:lpstr>
      <vt:lpstr>Raleway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Дарына Радвіловіч</cp:lastModifiedBy>
  <cp:revision>2</cp:revision>
  <dcterms:created xsi:type="dcterms:W3CDTF">2026-09-07T11:22:19Z</dcterms:created>
  <dcterms:modified xsi:type="dcterms:W3CDTF">2026-09-07T11:24:30Z</dcterms:modified>
</cp:coreProperties>
</file>